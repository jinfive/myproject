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1"/>
  </p:sldMasterIdLst>
  <p:sldIdLst>
    <p:sldId id="257" r:id="rId1"/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12191695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" lIns="91440" tIns="68580" rIns="91440" bIns="68580"/>
          <a:lstStyle/>
          <a:p>
            <a:r>
              <a:rPr lang="ko-KR" sz="1800" b="0">
                <a:solidFill>
                  <a:srgbClr val="0F172A"/>
                </a:solidFill>
                <a:latin typeface="Aptos"/>
                <a:ea typeface="Malgun Gothic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 wrap="square" anchor="t" lIns="91440" tIns="68580" rIns="91440" bIns="68580"/>
          <a:lstStyle/>
          <a:p>
            <a:r>
              <a:rPr lang="ko-KR" sz="1800" b="0">
                <a:solidFill>
                  <a:srgbClr val="0F172A"/>
                </a:solidFill>
                <a:latin typeface="Aptos"/>
                <a:ea typeface="Malgun Gothic"/>
              </a:rPr>
              <a:t/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292608"/>
            <a:ext cx="7955279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8580" rIns="91440" bIns="68580"/>
          <a:lstStyle/>
          <a:p>
            <a:r>
              <a:rPr lang="ko-KR" sz="2500" b="1">
                <a:solidFill>
                  <a:srgbClr val="0F172A"/>
                </a:solidFill>
                <a:latin typeface="Aptos"/>
                <a:ea typeface="Malgun Gothic"/>
              </a:rPr>
              <a:t>정산 배치 성능 개선 프로젝트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530352" y="786384"/>
            <a:ext cx="8778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8580" rIns="91440" bIns="68580"/>
          <a:lstStyle/>
          <a:p>
            <a:r>
              <a:rPr lang="ko-KR" sz="1200" b="1">
                <a:solidFill>
                  <a:srgbClr val="2563EB"/>
                </a:solidFill>
                <a:latin typeface="Aptos"/>
                <a:ea typeface="Malgun Gothic"/>
              </a:rPr>
              <a:t>대용량 처리, 정합성, 멱등성, 실패 추적, 성능 개선을 함께 검증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685800" y="1325880"/>
            <a:ext cx="2057400" cy="86868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BFDBFE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700" b="1">
                <a:solidFill>
                  <a:srgbClr val="0F172A"/>
                </a:solidFill>
                <a:latin typeface="Aptos"/>
                <a:ea typeface="Malgun Gothic"/>
              </a:rPr>
              <a:t>Payment</a:t>
            </a:r>
          </a:p>
          <a:p>
            <a:r>
              <a:rPr lang="ko-KR" sz="1700" b="1">
                <a:solidFill>
                  <a:srgbClr val="0F172A"/>
                </a:solidFill>
                <a:latin typeface="Aptos"/>
                <a:ea typeface="Malgun Gothic"/>
              </a:rPr>
              <a:t>결제/취소 원천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3429000" y="1325880"/>
            <a:ext cx="2057400" cy="86868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BBF7D0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700" b="1">
                <a:solidFill>
                  <a:srgbClr val="0F172A"/>
                </a:solidFill>
                <a:latin typeface="Aptos"/>
                <a:ea typeface="Malgun Gothic"/>
              </a:rPr>
              <a:t>Settlement</a:t>
            </a:r>
          </a:p>
          <a:p>
            <a:r>
              <a:rPr lang="ko-KR" sz="1700" b="1">
                <a:solidFill>
                  <a:srgbClr val="0F172A"/>
                </a:solidFill>
                <a:latin typeface="Aptos"/>
                <a:ea typeface="Malgun Gothic"/>
              </a:rPr>
              <a:t>가맹점별 정산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6172200" y="1325880"/>
            <a:ext cx="2331720" cy="86868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FDE68A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600" b="1">
                <a:solidFill>
                  <a:srgbClr val="0F172A"/>
                </a:solidFill>
                <a:latin typeface="Aptos"/>
                <a:ea typeface="Malgun Gothic"/>
              </a:rPr>
              <a:t>BatchJobHistory</a:t>
            </a:r>
          </a:p>
          <a:p>
            <a:r>
              <a:rPr lang="ko-KR" sz="1600" b="1">
                <a:solidFill>
                  <a:srgbClr val="0F172A"/>
                </a:solidFill>
                <a:latin typeface="Aptos"/>
                <a:ea typeface="Malgun Gothic"/>
              </a:rPr>
              <a:t>실행 이력/실패 원인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9144000" y="1325880"/>
            <a:ext cx="2194560" cy="86868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700" b="1">
                <a:solidFill>
                  <a:srgbClr val="0F172A"/>
                </a:solidFill>
                <a:latin typeface="Aptos"/>
                <a:ea typeface="Malgun Gothic"/>
              </a:rPr>
              <a:t>Merchant</a:t>
            </a:r>
          </a:p>
          <a:p>
            <a:r>
              <a:rPr lang="ko-KR" sz="1700" b="1">
                <a:solidFill>
                  <a:srgbClr val="0F172A"/>
                </a:solidFill>
                <a:latin typeface="Aptos"/>
                <a:ea typeface="Malgun Gothic"/>
              </a:rPr>
              <a:t>수수료율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77240" y="2788920"/>
            <a:ext cx="530352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91440" tIns="68580" rIns="91440" bIns="68580"/>
          <a:lstStyle/>
          <a:p>
            <a:pPr marL="285750" indent="-171450">
              <a:buChar char="•"/>
            </a:pPr>
            <a:r>
              <a:rPr lang="ko-KR" sz="1500">
                <a:solidFill>
                  <a:srgbClr val="0F172A"/>
                </a:solidFill>
                <a:latin typeface="Aptos"/>
                <a:ea typeface="Malgun Gothic"/>
              </a:rPr>
              <a:t>정산일자 기준 대량 Payment 집계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0F172A"/>
                </a:solidFill>
                <a:latin typeface="Aptos"/>
                <a:ea typeface="Malgun Gothic"/>
              </a:rPr>
              <a:t>전략별 Settlement 결과 비교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0F172A"/>
                </a:solidFill>
                <a:latin typeface="Aptos"/>
                <a:ea typeface="Malgun Gothic"/>
              </a:rPr>
              <a:t>성능 수치와 정합성 결과를 함께 기록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400800" y="2788920"/>
            <a:ext cx="502920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91440" tIns="68580" rIns="91440" bIns="68580"/>
          <a:lstStyle/>
          <a:p>
            <a:pPr marL="285750" indent="-171450">
              <a:buChar char="•"/>
            </a:pPr>
            <a:r>
              <a:rPr lang="ko-KR" sz="1500">
                <a:solidFill>
                  <a:srgbClr val="0F172A"/>
                </a:solidFill>
                <a:latin typeface="Aptos"/>
                <a:ea typeface="Malgun Gothic"/>
              </a:rPr>
              <a:t>Spring Boot + JPA + PostgreSQL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0F172A"/>
                </a:solidFill>
                <a:latin typeface="Aptos"/>
                <a:ea typeface="Malgun Gothic"/>
              </a:rPr>
              <a:t>BatchJobHistory로 성공/실패 추적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0F172A"/>
                </a:solidFill>
                <a:latin typeface="Aptos"/>
                <a:ea typeface="Malgun Gothic"/>
              </a:rPr>
              <a:t>README/work-log/PPT용 기록 체계화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8580" rIns="91440" bIns="68580"/>
          <a:lstStyle/>
          <a:p>
            <a:r>
              <a:rPr lang="ko-KR" sz="900" b="0">
                <a:solidFill>
                  <a:srgbClr val="64748B"/>
                </a:solidFill>
                <a:latin typeface="Aptos"/>
                <a:ea typeface="Malgun Gothic"/>
              </a:rPr>
              <a:t>프로젝트 개요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11109960" y="64465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68580" rIns="91440" bIns="68580"/>
          <a:lstStyle/>
          <a:p>
            <a:r>
              <a:rPr lang="ko-KR" sz="900" b="0">
                <a:solidFill>
                  <a:srgbClr val="64748B"/>
                </a:solidFill>
                <a:latin typeface="Aptos"/>
                <a:ea typeface="Malgun Gothi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" lIns="91440" tIns="68580" rIns="91440" bIns="68580"/>
          <a:lstStyle/>
          <a:p>
            <a:r>
              <a:rPr lang="ko-KR" sz="1800" b="0">
                <a:solidFill>
                  <a:srgbClr val="0F172A"/>
                </a:solidFill>
                <a:latin typeface="Aptos"/>
                <a:ea typeface="Malgun Gothic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 wrap="square" anchor="t" lIns="91440" tIns="68580" rIns="91440" bIns="68580"/>
          <a:lstStyle/>
          <a:p>
            <a:r>
              <a:rPr lang="ko-KR" sz="1800" b="0">
                <a:solidFill>
                  <a:srgbClr val="0F172A"/>
                </a:solidFill>
                <a:latin typeface="Aptos"/>
                <a:ea typeface="Malgun Gothic"/>
              </a:rPr>
              <a:t/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292608"/>
            <a:ext cx="7955279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8580" rIns="91440" bIns="68580"/>
          <a:lstStyle/>
          <a:p>
            <a:r>
              <a:rPr lang="ko-KR" sz="2500" b="1">
                <a:solidFill>
                  <a:srgbClr val="0F172A"/>
                </a:solidFill>
                <a:latin typeface="Aptos"/>
                <a:ea typeface="Malgun Gothic"/>
              </a:rPr>
              <a:t>해결하려 한 문제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530352" y="786384"/>
            <a:ext cx="8778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8580" rIns="91440" bIns="68580"/>
          <a:lstStyle/>
          <a:p>
            <a:r>
              <a:rPr lang="ko-KR" sz="1200" b="1">
                <a:solidFill>
                  <a:srgbClr val="2563EB"/>
                </a:solidFill>
                <a:latin typeface="Aptos"/>
                <a:ea typeface="Malgun Gothic"/>
              </a:rPr>
              <a:t>성능만 빠른 정산이 아니라, 틀리지 않고 추적 가능한 정산이 필요했다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94360" y="1417320"/>
            <a:ext cx="205740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500" b="1">
                <a:solidFill>
                  <a:srgbClr val="0F172A"/>
                </a:solidFill>
                <a:latin typeface="Aptos"/>
                <a:ea typeface="Malgun Gothic"/>
              </a:rPr>
              <a:t>전체 조회 비용</a:t>
            </a:r>
          </a:p>
          <a:p>
            <a:r>
              <a:rPr lang="ko-KR" sz="1500" b="1">
                <a:solidFill>
                  <a:srgbClr val="0F172A"/>
                </a:solidFill>
                <a:latin typeface="Aptos"/>
                <a:ea typeface="Malgun Gothic"/>
              </a:rPr>
              <a:t>Payment Entity 로딩 증가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2834640" y="1417320"/>
            <a:ext cx="205740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500" b="1">
                <a:solidFill>
                  <a:srgbClr val="0F172A"/>
                </a:solidFill>
                <a:latin typeface="Aptos"/>
                <a:ea typeface="Malgun Gothic"/>
              </a:rPr>
              <a:t>금액 정합성</a:t>
            </a:r>
          </a:p>
          <a:p>
            <a:r>
              <a:rPr lang="ko-KR" sz="1500" b="1">
                <a:solidFill>
                  <a:srgbClr val="0F172A"/>
                </a:solidFill>
                <a:latin typeface="Aptos"/>
                <a:ea typeface="Malgun Gothic"/>
              </a:rPr>
              <a:t>전략 변경 후 금액 불일치 위험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5074920" y="1417320"/>
            <a:ext cx="205740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500" b="1">
                <a:solidFill>
                  <a:srgbClr val="0F172A"/>
                </a:solidFill>
                <a:latin typeface="Aptos"/>
                <a:ea typeface="Malgun Gothic"/>
              </a:rPr>
              <a:t>중복 정산</a:t>
            </a:r>
          </a:p>
          <a:p>
            <a:r>
              <a:rPr lang="ko-KR" sz="1500" b="1">
                <a:solidFill>
                  <a:srgbClr val="0F172A"/>
                </a:solidFill>
                <a:latin typeface="Aptos"/>
                <a:ea typeface="Malgun Gothic"/>
              </a:rPr>
              <a:t>같은 날짜/전략 재실행 위험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7315200" y="1417320"/>
            <a:ext cx="205740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500" b="1">
                <a:solidFill>
                  <a:srgbClr val="0F172A"/>
                </a:solidFill>
                <a:latin typeface="Aptos"/>
                <a:ea typeface="Malgun Gothic"/>
              </a:rPr>
              <a:t>부분 저장</a:t>
            </a:r>
          </a:p>
          <a:p>
            <a:r>
              <a:rPr lang="ko-KR" sz="1500" b="1">
                <a:solidFill>
                  <a:srgbClr val="0F172A"/>
                </a:solidFill>
                <a:latin typeface="Aptos"/>
                <a:ea typeface="Malgun Gothic"/>
              </a:rPr>
              <a:t>중간 실패 시 일부 결과 저장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9555480" y="1417320"/>
            <a:ext cx="205740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500" b="1">
                <a:solidFill>
                  <a:srgbClr val="0F172A"/>
                </a:solidFill>
                <a:latin typeface="Aptos"/>
                <a:ea typeface="Malgun Gothic"/>
              </a:rPr>
              <a:t>저장 병목</a:t>
            </a:r>
          </a:p>
          <a:p>
            <a:r>
              <a:rPr lang="ko-KR" sz="1500" b="1">
                <a:solidFill>
                  <a:srgbClr val="0F172A"/>
                </a:solidFill>
                <a:latin typeface="Aptos"/>
                <a:ea typeface="Malgun Gothic"/>
              </a:rPr>
              <a:t>Settlement 10,000건 저장 비용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960120" y="3337560"/>
            <a:ext cx="4892040" cy="164592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txBody>
          <a:bodyPr wrap="square" anchor="t" lIns="91440" tIns="68580" rIns="91440" bIns="68580"/>
          <a:lstStyle/>
          <a:p>
            <a:pPr marL="285750" indent="-171450">
              <a:buChar char="•"/>
            </a:pPr>
            <a:r>
              <a:rPr lang="ko-KR" sz="1600">
                <a:solidFill>
                  <a:srgbClr val="0F172A"/>
                </a:solidFill>
                <a:latin typeface="Aptos"/>
                <a:ea typeface="Malgun Gothic"/>
              </a:rPr>
              <a:t>배치가 실패해도 원인을 남겨야 함</a:t>
            </a:r>
          </a:p>
          <a:p>
            <a:pPr marL="285750" indent="-171450">
              <a:buChar char="•"/>
            </a:pPr>
            <a:r>
              <a:rPr lang="ko-KR" sz="1600">
                <a:solidFill>
                  <a:srgbClr val="0F172A"/>
                </a:solidFill>
                <a:latin typeface="Aptos"/>
                <a:ea typeface="Malgun Gothic"/>
              </a:rPr>
              <a:t>전략별 성능 비교가 가능해야 함</a:t>
            </a:r>
          </a:p>
          <a:p>
            <a:pPr marL="285750" indent="-171450">
              <a:buChar char="•"/>
            </a:pPr>
            <a:r>
              <a:rPr lang="ko-KR" sz="1600">
                <a:solidFill>
                  <a:srgbClr val="0F172A"/>
                </a:solidFill>
                <a:latin typeface="Aptos"/>
                <a:ea typeface="Malgun Gothic"/>
              </a:rPr>
              <a:t>금융 정산 결과는 속도보다 정합성이 우선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6217920" y="3337560"/>
            <a:ext cx="4892040" cy="164592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7DD3FC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800" b="1">
                <a:solidFill>
                  <a:srgbClr val="0F172A"/>
                </a:solidFill>
                <a:latin typeface="Aptos"/>
                <a:ea typeface="Malgun Gothic"/>
              </a:rPr>
              <a:t>핵심 관점</a:t>
            </a:r>
          </a:p>
          <a:p>
            <a:r>
              <a:rPr lang="ko-KR" sz="1800" b="1">
                <a:solidFill>
                  <a:srgbClr val="0F172A"/>
                </a:solidFill>
                <a:latin typeface="Aptos"/>
                <a:ea typeface="Malgun Gothic"/>
              </a:rPr>
              <a:t>문제 발견 → 원인 분석 → 대안 검토 → 수정 → 검증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8580" rIns="91440" bIns="68580"/>
          <a:lstStyle/>
          <a:p>
            <a:r>
              <a:rPr lang="ko-KR" sz="900" b="0">
                <a:solidFill>
                  <a:srgbClr val="64748B"/>
                </a:solidFill>
                <a:latin typeface="Aptos"/>
                <a:ea typeface="Malgun Gothic"/>
              </a:rPr>
              <a:t>문제 정의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11109960" y="64465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68580" rIns="91440" bIns="68580"/>
          <a:lstStyle/>
          <a:p>
            <a:r>
              <a:rPr lang="ko-KR" sz="900" b="0">
                <a:solidFill>
                  <a:srgbClr val="64748B"/>
                </a:solidFill>
                <a:latin typeface="Aptos"/>
                <a:ea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" lIns="91440" tIns="68580" rIns="91440" bIns="68580"/>
          <a:lstStyle/>
          <a:p>
            <a:r>
              <a:rPr lang="ko-KR" sz="1800" b="0">
                <a:solidFill>
                  <a:srgbClr val="0F172A"/>
                </a:solidFill>
                <a:latin typeface="Aptos"/>
                <a:ea typeface="Malgun Gothic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 wrap="square" anchor="t" lIns="91440" tIns="68580" rIns="91440" bIns="68580"/>
          <a:lstStyle/>
          <a:p>
            <a:r>
              <a:rPr lang="ko-KR" sz="1800" b="0">
                <a:solidFill>
                  <a:srgbClr val="0F172A"/>
                </a:solidFill>
                <a:latin typeface="Aptos"/>
                <a:ea typeface="Malgun Gothic"/>
              </a:rPr>
              <a:t/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292608"/>
            <a:ext cx="7955279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8580" rIns="91440" bIns="68580"/>
          <a:lstStyle/>
          <a:p>
            <a:r>
              <a:rPr lang="ko-KR" sz="2500" b="1">
                <a:solidFill>
                  <a:srgbClr val="0F172A"/>
                </a:solidFill>
                <a:latin typeface="Aptos"/>
                <a:ea typeface="Malgun Gothic"/>
              </a:rPr>
              <a:t>정산 전략 비교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530352" y="786384"/>
            <a:ext cx="8778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8580" rIns="91440" bIns="68580"/>
          <a:lstStyle/>
          <a:p>
            <a:r>
              <a:rPr lang="ko-KR" sz="1200" b="1">
                <a:solidFill>
                  <a:srgbClr val="2563EB"/>
                </a:solidFill>
                <a:latin typeface="Aptos"/>
                <a:ea typeface="Malgun Gothic"/>
              </a:rPr>
              <a:t>조회 병목과 저장 병목을 한 번에 섞지 않고 단계별로 분리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777240" y="1417320"/>
            <a:ext cx="283464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600" b="1">
                <a:solidFill>
                  <a:srgbClr val="0F172A"/>
                </a:solidFill>
                <a:latin typeface="Aptos"/>
                <a:ea typeface="Malgun Gothic"/>
              </a:rPr>
              <a:t>BASIC_LOOP</a:t>
            </a:r>
          </a:p>
          <a:p>
            <a:r>
              <a:rPr lang="ko-KR" sz="1600" b="1">
                <a:solidFill>
                  <a:srgbClr val="0F172A"/>
                </a:solidFill>
                <a:latin typeface="Aptos"/>
                <a:ea typeface="Malgun Gothic"/>
              </a:rPr>
              <a:t>전체 Payment 조회</a:t>
            </a:r>
          </a:p>
          <a:p>
            <a:r>
              <a:rPr lang="ko-KR" sz="1600" b="1">
                <a:solidFill>
                  <a:srgbClr val="0F172A"/>
                </a:solidFill>
                <a:latin typeface="Aptos"/>
                <a:ea typeface="Malgun Gothic"/>
              </a:rPr>
              <a:t>Java 반복 집계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4663440" y="1417320"/>
            <a:ext cx="2834640" cy="11430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7DD3FC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600" b="1">
                <a:solidFill>
                  <a:srgbClr val="0F172A"/>
                </a:solidFill>
                <a:latin typeface="Aptos"/>
                <a:ea typeface="Malgun Gothic"/>
              </a:rPr>
              <a:t>GROUP_BY_QUERY</a:t>
            </a:r>
          </a:p>
          <a:p>
            <a:r>
              <a:rPr lang="ko-KR" sz="1600" b="1">
                <a:solidFill>
                  <a:srgbClr val="0F172A"/>
                </a:solidFill>
                <a:latin typeface="Aptos"/>
                <a:ea typeface="Malgun Gothic"/>
              </a:rPr>
              <a:t>DB GROUP BY 집계</a:t>
            </a:r>
          </a:p>
          <a:p>
            <a:r>
              <a:rPr lang="ko-KR" sz="1600" b="1">
                <a:solidFill>
                  <a:srgbClr val="0F172A"/>
                </a:solidFill>
                <a:latin typeface="Aptos"/>
                <a:ea typeface="Malgun Gothic"/>
              </a:rPr>
              <a:t>Entity 조회 제거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49640" y="1417320"/>
            <a:ext cx="2834640" cy="11430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86EFAC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600" b="1">
                <a:solidFill>
                  <a:srgbClr val="0F172A"/>
                </a:solidFill>
                <a:latin typeface="Aptos"/>
                <a:ea typeface="Malgun Gothic"/>
              </a:rPr>
              <a:t>GROUP_BY_BULK_SAVE</a:t>
            </a:r>
          </a:p>
          <a:p>
            <a:r>
              <a:rPr lang="ko-KR" sz="1600" b="1">
                <a:solidFill>
                  <a:srgbClr val="0F172A"/>
                </a:solidFill>
                <a:latin typeface="Aptos"/>
                <a:ea typeface="Malgun Gothic"/>
              </a:rPr>
              <a:t>집계 결과 재사용</a:t>
            </a:r>
          </a:p>
          <a:p>
            <a:r>
              <a:rPr lang="ko-KR" sz="1600" b="1">
                <a:solidFill>
                  <a:srgbClr val="0F172A"/>
                </a:solidFill>
                <a:latin typeface="Aptos"/>
                <a:ea typeface="Malgun Gothic"/>
              </a:rPr>
              <a:t>saveAll 저장 실험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3840480" y="17099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68580" rIns="91440" bIns="68580"/>
          <a:lstStyle/>
          <a:p>
            <a:r>
              <a:rPr lang="ko-KR" sz="2800" b="1">
                <a:solidFill>
                  <a:srgbClr val="2563EB"/>
                </a:solidFill>
                <a:latin typeface="Aptos"/>
                <a:ea typeface="Malgun Gothic"/>
              </a:rPr>
              <a:t>→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726679" y="17099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68580" rIns="91440" bIns="68580"/>
          <a:lstStyle/>
          <a:p>
            <a:r>
              <a:rPr lang="ko-KR" sz="2800" b="1">
                <a:solidFill>
                  <a:srgbClr val="2563EB"/>
                </a:solidFill>
                <a:latin typeface="Aptos"/>
                <a:ea typeface="Malgun Gothic"/>
              </a:rPr>
              <a:t>→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868680" y="3063240"/>
            <a:ext cx="2743200" cy="13258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500" b="0">
                <a:solidFill>
                  <a:srgbClr val="0F172A"/>
                </a:solidFill>
                <a:latin typeface="Aptos"/>
                <a:ea typeface="Malgun Gothic"/>
              </a:rPr>
              <a:t>목적</a:t>
            </a:r>
          </a:p>
          <a:p>
            <a:r>
              <a:rPr lang="ko-KR" sz="1500" b="0">
                <a:solidFill>
                  <a:srgbClr val="0F172A"/>
                </a:solidFill>
                <a:latin typeface="Aptos"/>
                <a:ea typeface="Malgun Gothic"/>
              </a:rPr>
              <a:t>성능 개선 전 기준선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4709160" y="3063240"/>
            <a:ext cx="2743200" cy="13258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500" b="0">
                <a:solidFill>
                  <a:srgbClr val="0F172A"/>
                </a:solidFill>
                <a:latin typeface="Aptos"/>
                <a:ea typeface="Malgun Gothic"/>
              </a:rPr>
              <a:t>목적</a:t>
            </a:r>
          </a:p>
          <a:p>
            <a:r>
              <a:rPr lang="ko-KR" sz="1500" b="0">
                <a:solidFill>
                  <a:srgbClr val="0F172A"/>
                </a:solidFill>
                <a:latin typeface="Aptos"/>
                <a:ea typeface="Malgun Gothic"/>
              </a:rPr>
              <a:t>Payment 전체 Entity 조회 제거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8549640" y="3063240"/>
            <a:ext cx="2743200" cy="13258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500" b="0">
                <a:solidFill>
                  <a:srgbClr val="0F172A"/>
                </a:solidFill>
                <a:latin typeface="Aptos"/>
                <a:ea typeface="Malgun Gothic"/>
              </a:rPr>
              <a:t>목적</a:t>
            </a:r>
          </a:p>
          <a:p>
            <a:r>
              <a:rPr lang="ko-KR" sz="1500" b="0">
                <a:solidFill>
                  <a:srgbClr val="0F172A"/>
                </a:solidFill>
                <a:latin typeface="Aptos"/>
                <a:ea typeface="Malgun Gothic"/>
              </a:rPr>
              <a:t>저장 방식 변화의 영향 확인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8580" rIns="91440" bIns="68580"/>
          <a:lstStyle/>
          <a:p>
            <a:r>
              <a:rPr lang="ko-KR" sz="900" b="0">
                <a:solidFill>
                  <a:srgbClr val="64748B"/>
                </a:solidFill>
                <a:latin typeface="Aptos"/>
                <a:ea typeface="Malgun Gothic"/>
              </a:rPr>
              <a:t>전략 설계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11109960" y="64465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68580" rIns="91440" bIns="68580"/>
          <a:lstStyle/>
          <a:p>
            <a:r>
              <a:rPr lang="ko-KR" sz="900" b="0">
                <a:solidFill>
                  <a:srgbClr val="64748B"/>
                </a:solidFill>
                <a:latin typeface="Aptos"/>
                <a:ea typeface="Malgun Gothi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" lIns="91440" tIns="68580" rIns="91440" bIns="68580"/>
          <a:lstStyle/>
          <a:p>
            <a:r>
              <a:rPr lang="ko-KR" sz="1800" b="0">
                <a:solidFill>
                  <a:srgbClr val="0F172A"/>
                </a:solidFill>
                <a:latin typeface="Aptos"/>
                <a:ea typeface="Malgun Gothic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 wrap="square" anchor="t" lIns="91440" tIns="68580" rIns="91440" bIns="68580"/>
          <a:lstStyle/>
          <a:p>
            <a:r>
              <a:rPr lang="ko-KR" sz="1800" b="0">
                <a:solidFill>
                  <a:srgbClr val="0F172A"/>
                </a:solidFill>
                <a:latin typeface="Aptos"/>
                <a:ea typeface="Malgun Gothic"/>
              </a:rPr>
              <a:t/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292608"/>
            <a:ext cx="7955279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8580" rIns="91440" bIns="68580"/>
          <a:lstStyle/>
          <a:p>
            <a:r>
              <a:rPr lang="ko-KR" sz="2500" b="1">
                <a:solidFill>
                  <a:srgbClr val="0F172A"/>
                </a:solidFill>
                <a:latin typeface="Aptos"/>
                <a:ea typeface="Malgun Gothic"/>
              </a:rPr>
              <a:t>안정성/정합성 설계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530352" y="786384"/>
            <a:ext cx="8778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8580" rIns="91440" bIns="68580"/>
          <a:lstStyle/>
          <a:p>
            <a:r>
              <a:rPr lang="ko-KR" sz="1200" b="1">
                <a:solidFill>
                  <a:srgbClr val="2563EB"/>
                </a:solidFill>
                <a:latin typeface="Aptos"/>
                <a:ea typeface="Malgun Gothic"/>
              </a:rPr>
              <a:t>전략이 바뀌어도 결과는 같고, 실패는 추적 가능해야 한다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685800" y="1325880"/>
            <a:ext cx="5120640" cy="11430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86EFAC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800" b="1">
                <a:solidFill>
                  <a:srgbClr val="0F172A"/>
                </a:solidFill>
                <a:latin typeface="Aptos"/>
                <a:ea typeface="Malgun Gothic"/>
              </a:rPr>
              <a:t>정상 흐름</a:t>
            </a:r>
          </a:p>
          <a:p>
            <a:r>
              <a:rPr lang="ko-KR" sz="1800" b="1">
                <a:solidFill>
                  <a:srgbClr val="0F172A"/>
                </a:solidFill>
                <a:latin typeface="Aptos"/>
                <a:ea typeface="Malgun Gothic"/>
              </a:rPr>
              <a:t>RUNNING → Settlement 저장 → SUCCESS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6263640" y="1325880"/>
            <a:ext cx="5120640" cy="1143000"/>
          </a:xfrm>
          <a:prstGeom prst="roundRect">
            <a:avLst/>
          </a:prstGeom>
          <a:solidFill>
            <a:srgbClr val="FEE2E2"/>
          </a:solidFill>
          <a:ln w="9525">
            <a:solidFill>
              <a:srgbClr val="FCA5A5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800" b="1">
                <a:solidFill>
                  <a:srgbClr val="0F172A"/>
                </a:solidFill>
                <a:latin typeface="Aptos"/>
                <a:ea typeface="Malgun Gothic"/>
              </a:rPr>
              <a:t>실패 흐름</a:t>
            </a:r>
          </a:p>
          <a:p>
            <a:r>
              <a:rPr lang="ko-KR" sz="1800" b="1">
                <a:solidFill>
                  <a:srgbClr val="0F172A"/>
                </a:solidFill>
                <a:latin typeface="Aptos"/>
                <a:ea typeface="Malgun Gothic"/>
              </a:rPr>
              <a:t>RUNNING → Settlement 롤백 → FAILED + errorMessage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777240" y="2926080"/>
            <a:ext cx="502920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91440" tIns="68580" rIns="91440" bIns="68580"/>
          <a:lstStyle/>
          <a:p>
            <a:pPr marL="285750" indent="-171450">
              <a:buChar char="•"/>
            </a:pPr>
            <a:r>
              <a:rPr lang="ko-KR" sz="1500">
                <a:solidFill>
                  <a:srgbClr val="0F172A"/>
                </a:solidFill>
                <a:latin typeface="Aptos"/>
                <a:ea typeface="Malgun Gothic"/>
              </a:rPr>
              <a:t>중복 기준: merchant_id + settlement_date + processing_strategy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0F172A"/>
                </a:solidFill>
                <a:latin typeface="Aptos"/>
                <a:ea typeface="Malgun Gothic"/>
              </a:rPr>
              <a:t>같은 날짜라도 다른 전략 결과는 저장 가능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0F172A"/>
                </a:solidFill>
                <a:latin typeface="Aptos"/>
                <a:ea typeface="Malgun Gothic"/>
              </a:rPr>
              <a:t>같은 날짜 + 같은 전략 재실행 차단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6355080" y="2926080"/>
            <a:ext cx="502920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91440" tIns="68580" rIns="91440" bIns="68580"/>
          <a:lstStyle/>
          <a:p>
            <a:pPr marL="285750" indent="-171450">
              <a:buChar char="•"/>
            </a:pPr>
            <a:r>
              <a:rPr lang="ko-KR" sz="1500">
                <a:solidFill>
                  <a:srgbClr val="0F172A"/>
                </a:solidFill>
                <a:latin typeface="Aptos"/>
                <a:ea typeface="Malgun Gothic"/>
              </a:rPr>
              <a:t>BatchJobHistory는 REQUIRES_NEW로 보존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0F172A"/>
                </a:solidFill>
                <a:latin typeface="Aptos"/>
                <a:ea typeface="Malgun Gothic"/>
              </a:rPr>
              <a:t>processedCount 확인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0F172A"/>
                </a:solidFill>
                <a:latin typeface="Aptos"/>
                <a:ea typeface="Malgun Gothic"/>
              </a:rPr>
              <a:t>Settlement 건수와 총액 동일성 검증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8580" rIns="91440" bIns="68580"/>
          <a:lstStyle/>
          <a:p>
            <a:r>
              <a:rPr lang="ko-KR" sz="900" b="0">
                <a:solidFill>
                  <a:srgbClr val="64748B"/>
                </a:solidFill>
                <a:latin typeface="Aptos"/>
                <a:ea typeface="Malgun Gothic"/>
              </a:rPr>
              <a:t>정합성/멱등성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11109960" y="64465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68580" rIns="91440" bIns="68580"/>
          <a:lstStyle/>
          <a:p>
            <a:r>
              <a:rPr lang="ko-KR" sz="900" b="0">
                <a:solidFill>
                  <a:srgbClr val="64748B"/>
                </a:solidFill>
                <a:latin typeface="Aptos"/>
                <a:ea typeface="Malgun Gothi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" lIns="91440" tIns="68580" rIns="91440" bIns="68580"/>
          <a:lstStyle/>
          <a:p>
            <a:r>
              <a:rPr lang="ko-KR" sz="1800" b="0">
                <a:solidFill>
                  <a:srgbClr val="0F172A"/>
                </a:solidFill>
                <a:latin typeface="Aptos"/>
                <a:ea typeface="Malgun Gothic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 wrap="square" anchor="t" lIns="91440" tIns="68580" rIns="91440" bIns="68580"/>
          <a:lstStyle/>
          <a:p>
            <a:r>
              <a:rPr lang="ko-KR" sz="1800" b="0">
                <a:solidFill>
                  <a:srgbClr val="0F172A"/>
                </a:solidFill>
                <a:latin typeface="Aptos"/>
                <a:ea typeface="Malgun Gothic"/>
              </a:rPr>
              <a:t/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292608"/>
            <a:ext cx="7955279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8580" rIns="91440" bIns="68580"/>
          <a:lstStyle/>
          <a:p>
            <a:r>
              <a:rPr lang="ko-KR" sz="2500" b="1">
                <a:solidFill>
                  <a:srgbClr val="0F172A"/>
                </a:solidFill>
                <a:latin typeface="Aptos"/>
                <a:ea typeface="Malgun Gothic"/>
              </a:rPr>
              <a:t>성능 개선 흐름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530352" y="786384"/>
            <a:ext cx="8778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8580" rIns="91440" bIns="68580"/>
          <a:lstStyle/>
          <a:p>
            <a:r>
              <a:rPr lang="ko-KR" sz="1200" b="1">
                <a:solidFill>
                  <a:srgbClr val="2563EB"/>
                </a:solidFill>
                <a:latin typeface="Aptos"/>
                <a:ea typeface="Malgun Gothic"/>
              </a:rPr>
              <a:t>데이터 규모 확장 → 병목 확인 → 개선 방식 선택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02920" y="1417320"/>
            <a:ext cx="164592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400" b="1">
                <a:solidFill>
                  <a:srgbClr val="0F172A"/>
                </a:solidFill>
                <a:latin typeface="Aptos"/>
                <a:ea typeface="Malgun Gothic"/>
              </a:rPr>
              <a:t>10만 건</a:t>
            </a:r>
          </a:p>
          <a:p>
            <a:r>
              <a:rPr lang="ko-KR" sz="1400" b="1">
                <a:solidFill>
                  <a:srgbClr val="0F172A"/>
                </a:solidFill>
                <a:latin typeface="Aptos"/>
                <a:ea typeface="Malgun Gothic"/>
              </a:rPr>
              <a:t>기준선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2057400" y="2514600"/>
            <a:ext cx="164592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400" b="1">
                <a:solidFill>
                  <a:srgbClr val="0F172A"/>
                </a:solidFill>
                <a:latin typeface="Aptos"/>
                <a:ea typeface="Malgun Gothic"/>
              </a:rPr>
              <a:t>100만 건</a:t>
            </a:r>
          </a:p>
          <a:p>
            <a:r>
              <a:rPr lang="ko-KR" sz="1400" b="1">
                <a:solidFill>
                  <a:srgbClr val="0F172A"/>
                </a:solidFill>
                <a:latin typeface="Aptos"/>
                <a:ea typeface="Malgun Gothic"/>
              </a:rPr>
              <a:t>확장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3611880" y="1417320"/>
            <a:ext cx="164592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400" b="1">
                <a:solidFill>
                  <a:srgbClr val="0F172A"/>
                </a:solidFill>
                <a:latin typeface="Aptos"/>
                <a:ea typeface="Malgun Gothic"/>
              </a:rPr>
              <a:t>1000만 건</a:t>
            </a:r>
          </a:p>
          <a:p>
            <a:r>
              <a:rPr lang="ko-KR" sz="1400" b="1">
                <a:solidFill>
                  <a:srgbClr val="0F172A"/>
                </a:solidFill>
                <a:latin typeface="Aptos"/>
                <a:ea typeface="Malgun Gothic"/>
              </a:rPr>
              <a:t>단일 날짜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5166360" y="2514600"/>
            <a:ext cx="1645920" cy="914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7DD3FC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400" b="1">
                <a:solidFill>
                  <a:srgbClr val="0F172A"/>
                </a:solidFill>
                <a:latin typeface="Aptos"/>
                <a:ea typeface="Malgun Gothic"/>
              </a:rPr>
              <a:t>work_mem</a:t>
            </a:r>
          </a:p>
          <a:p>
            <a:r>
              <a:rPr lang="ko-KR" sz="1400" b="1">
                <a:solidFill>
                  <a:srgbClr val="0F172A"/>
                </a:solidFill>
                <a:latin typeface="Aptos"/>
                <a:ea typeface="Malgun Gothic"/>
              </a:rPr>
              <a:t>spill 제거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6720840" y="1417320"/>
            <a:ext cx="164592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400" b="1">
                <a:solidFill>
                  <a:srgbClr val="0F172A"/>
                </a:solidFill>
                <a:latin typeface="Aptos"/>
                <a:ea typeface="Malgun Gothic"/>
              </a:rPr>
              <a:t>날짜 분산</a:t>
            </a:r>
          </a:p>
          <a:p>
            <a:r>
              <a:rPr lang="ko-KR" sz="1400" b="1">
                <a:solidFill>
                  <a:srgbClr val="0F172A"/>
                </a:solidFill>
                <a:latin typeface="Aptos"/>
                <a:ea typeface="Malgun Gothic"/>
              </a:rPr>
              <a:t>재설계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8275320" y="2514600"/>
            <a:ext cx="1645920" cy="914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7DD3FC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400" b="1">
                <a:solidFill>
                  <a:srgbClr val="0F172A"/>
                </a:solidFill>
                <a:latin typeface="Aptos"/>
                <a:ea typeface="Malgun Gothic"/>
              </a:rPr>
              <a:t>인덱스</a:t>
            </a:r>
          </a:p>
          <a:p>
            <a:r>
              <a:rPr lang="ko-KR" sz="1400" b="1">
                <a:solidFill>
                  <a:srgbClr val="0F172A"/>
                </a:solidFill>
                <a:latin typeface="Aptos"/>
                <a:ea typeface="Malgun Gothic"/>
              </a:rPr>
              <a:t>실험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9829800" y="1417320"/>
            <a:ext cx="1645920" cy="9144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86EFAC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400" b="1">
                <a:solidFill>
                  <a:srgbClr val="0F172A"/>
                </a:solidFill>
                <a:latin typeface="Aptos"/>
                <a:ea typeface="Malgun Gothic"/>
              </a:rPr>
              <a:t>native count(*)</a:t>
            </a:r>
          </a:p>
          <a:p>
            <a:r>
              <a:rPr lang="ko-KR" sz="1400" b="1">
                <a:solidFill>
                  <a:srgbClr val="0F172A"/>
                </a:solidFill>
                <a:latin typeface="Aptos"/>
                <a:ea typeface="Malgun Gothic"/>
              </a:rPr>
              <a:t>SEQUENCE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914400" y="4160520"/>
            <a:ext cx="1042416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91440" tIns="68580" rIns="91440" bIns="68580"/>
          <a:lstStyle/>
          <a:p>
            <a:pPr marL="285750" indent="-171450">
              <a:buChar char="•"/>
            </a:pPr>
            <a:r>
              <a:rPr lang="ko-KR" sz="1500">
                <a:solidFill>
                  <a:srgbClr val="0F172A"/>
                </a:solidFill>
                <a:latin typeface="Aptos"/>
                <a:ea typeface="Malgun Gothic"/>
              </a:rPr>
              <a:t>조회 병목: Entity 전체 조회 → DB GROUP BY → Index Only Scan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0F172A"/>
                </a:solidFill>
                <a:latin typeface="Aptos"/>
                <a:ea typeface="Malgun Gothic"/>
              </a:rPr>
              <a:t>메모리 병목: HashAggregate temp spill → 세션 work_mem 실험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0F172A"/>
                </a:solidFill>
                <a:latin typeface="Aptos"/>
                <a:ea typeface="Malgun Gothic"/>
              </a:rPr>
              <a:t>저장 병목: saveAll 한계 확인 → IDENTITY와 SEQUENCE 비교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8580" rIns="91440" bIns="68580"/>
          <a:lstStyle/>
          <a:p>
            <a:r>
              <a:rPr lang="ko-KR" sz="900" b="0">
                <a:solidFill>
                  <a:srgbClr val="64748B"/>
                </a:solidFill>
                <a:latin typeface="Aptos"/>
                <a:ea typeface="Malgun Gothic"/>
              </a:rPr>
              <a:t>개선 타임라인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11109960" y="64465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68580" rIns="91440" bIns="68580"/>
          <a:lstStyle/>
          <a:p>
            <a:r>
              <a:rPr lang="ko-KR" sz="900" b="0">
                <a:solidFill>
                  <a:srgbClr val="64748B"/>
                </a:solidFill>
                <a:latin typeface="Aptos"/>
                <a:ea typeface="Malgun Gothi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" lIns="91440" tIns="68580" rIns="91440" bIns="68580"/>
          <a:lstStyle/>
          <a:p>
            <a:r>
              <a:rPr lang="ko-KR" sz="1800" b="0">
                <a:solidFill>
                  <a:srgbClr val="0F172A"/>
                </a:solidFill>
                <a:latin typeface="Aptos"/>
                <a:ea typeface="Malgun Gothic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 wrap="square" anchor="t" lIns="91440" tIns="68580" rIns="91440" bIns="68580"/>
          <a:lstStyle/>
          <a:p>
            <a:r>
              <a:rPr lang="ko-KR" sz="1800" b="0">
                <a:solidFill>
                  <a:srgbClr val="0F172A"/>
                </a:solidFill>
                <a:latin typeface="Aptos"/>
                <a:ea typeface="Malgun Gothic"/>
              </a:rPr>
              <a:t/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292608"/>
            <a:ext cx="7955279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8580" rIns="91440" bIns="68580"/>
          <a:lstStyle/>
          <a:p>
            <a:r>
              <a:rPr lang="ko-KR" sz="2500" b="1">
                <a:solidFill>
                  <a:srgbClr val="0F172A"/>
                </a:solidFill>
                <a:latin typeface="Aptos"/>
                <a:ea typeface="Malgun Gothic"/>
              </a:rPr>
              <a:t>쿼리 구조 개선: 조인 후 집계에서 선집계 후 조인으로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530352" y="786384"/>
            <a:ext cx="8778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8580" rIns="91440" bIns="68580"/>
          <a:lstStyle/>
          <a:p>
            <a:r>
              <a:rPr lang="ko-KR" sz="1200" b="1">
                <a:solidFill>
                  <a:srgbClr val="2563EB"/>
                </a:solidFill>
                <a:latin typeface="Aptos"/>
                <a:ea typeface="Malgun Gothic"/>
              </a:rPr>
              <a:t>정산에 필요한 Payment 집계를 먼저 줄인 뒤 Merchant 정보를 조인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685800" y="1234440"/>
            <a:ext cx="5257800" cy="1234440"/>
          </a:xfrm>
          <a:prstGeom prst="roundRect">
            <a:avLst/>
          </a:prstGeom>
          <a:solidFill>
            <a:srgbClr val="FEE2E2"/>
          </a:solidFill>
          <a:ln w="9525">
            <a:solidFill>
              <a:srgbClr val="FCA5A5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600" b="1">
                <a:solidFill>
                  <a:srgbClr val="0F172A"/>
                </a:solidFill>
                <a:latin typeface="Aptos"/>
                <a:ea typeface="Malgun Gothic"/>
              </a:rPr>
              <a:t>기존 구조</a:t>
            </a:r>
          </a:p>
          <a:p>
            <a:r>
              <a:rPr lang="ko-KR" sz="1600" b="1">
                <a:solidFill>
                  <a:srgbClr val="0F172A"/>
                </a:solidFill>
                <a:latin typeface="Aptos"/>
                <a:ea typeface="Malgun Gothic"/>
              </a:rPr>
              <a:t>payments + merchants 조인</a:t>
            </a:r>
          </a:p>
          <a:p>
            <a:r>
              <a:rPr lang="ko-KR" sz="1600" b="1">
                <a:solidFill>
                  <a:srgbClr val="0F172A"/>
                </a:solidFill>
                <a:latin typeface="Aptos"/>
                <a:ea typeface="Malgun Gothic"/>
              </a:rPr>
              <a:t>→ GROUP BY</a:t>
            </a:r>
          </a:p>
          <a:p>
            <a:r>
              <a:rPr lang="ko-KR" sz="1600" b="1">
                <a:solidFill>
                  <a:srgbClr val="0F172A"/>
                </a:solidFill>
                <a:latin typeface="Aptos"/>
                <a:ea typeface="Malgun Gothic"/>
              </a:rPr>
              <a:t>→ temp spill 증가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6263640" y="1234440"/>
            <a:ext cx="5257800" cy="123444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86EFAC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600" b="1">
                <a:solidFill>
                  <a:srgbClr val="0F172A"/>
                </a:solidFill>
                <a:latin typeface="Aptos"/>
                <a:ea typeface="Malgun Gothic"/>
              </a:rPr>
              <a:t>개선 구조</a:t>
            </a:r>
          </a:p>
          <a:p>
            <a:r>
              <a:rPr lang="ko-KR" sz="1600" b="1">
                <a:solidFill>
                  <a:srgbClr val="0F172A"/>
                </a:solidFill>
                <a:latin typeface="Aptos"/>
                <a:ea typeface="Malgun Gothic"/>
              </a:rPr>
              <a:t>payments 선집계</a:t>
            </a:r>
          </a:p>
          <a:p>
            <a:r>
              <a:rPr lang="ko-KR" sz="1600" b="1">
                <a:solidFill>
                  <a:srgbClr val="0F172A"/>
                </a:solidFill>
                <a:latin typeface="Aptos"/>
                <a:ea typeface="Malgun Gothic"/>
              </a:rPr>
              <a:t>→ merchants 조인</a:t>
            </a:r>
          </a:p>
          <a:p>
            <a:r>
              <a:rPr lang="ko-KR" sz="1600" b="1">
                <a:solidFill>
                  <a:srgbClr val="0F172A"/>
                </a:solidFill>
                <a:latin typeface="Aptos"/>
                <a:ea typeface="Malgun Gothic"/>
              </a:rPr>
              <a:t>→ 중간 데이터 감소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68680" y="2788920"/>
            <a:ext cx="489204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91440" tIns="68580" rIns="91440" bIns="68580"/>
          <a:lstStyle/>
          <a:p>
            <a:pPr marL="285750" indent="-171450">
              <a:buChar char="•"/>
            </a:pPr>
            <a:r>
              <a:rPr lang="ko-KR" sz="1400">
                <a:solidFill>
                  <a:srgbClr val="0F172A"/>
                </a:solidFill>
                <a:latin typeface="Aptos"/>
                <a:ea typeface="Malgun Gothic"/>
              </a:rPr>
              <a:t>기존: m.id, m.name, m.fee_rate 기준 GROUP BY</a:t>
            </a:r>
          </a:p>
          <a:p>
            <a:pPr marL="285750" indent="-171450">
              <a:buChar char="•"/>
            </a:pPr>
            <a:r>
              <a:rPr lang="ko-KR" sz="1400">
                <a:solidFill>
                  <a:srgbClr val="0F172A"/>
                </a:solidFill>
                <a:latin typeface="Aptos"/>
                <a:ea typeface="Malgun Gothic"/>
              </a:rPr>
              <a:t>개선: p.merchant_id 기준 선집계 + count(*)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6446520" y="2788920"/>
            <a:ext cx="480060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91440" tIns="68580" rIns="91440" bIns="68580"/>
          <a:lstStyle/>
          <a:p>
            <a:pPr marL="285750" indent="-171450">
              <a:buChar char="•"/>
            </a:pPr>
            <a:r>
              <a:rPr lang="ko-KR" sz="1400">
                <a:solidFill>
                  <a:srgbClr val="0F172A"/>
                </a:solidFill>
                <a:latin typeface="Aptos"/>
                <a:ea typeface="Malgun Gothic"/>
              </a:rPr>
              <a:t>핵심 집계는 payments 기준 금액 합계</a:t>
            </a:r>
          </a:p>
          <a:p>
            <a:pPr marL="285750" indent="-171450">
              <a:buChar char="•"/>
            </a:pPr>
            <a:r>
              <a:rPr lang="ko-KR" sz="1400">
                <a:solidFill>
                  <a:srgbClr val="0F172A"/>
                </a:solidFill>
                <a:latin typeface="Aptos"/>
                <a:ea typeface="Malgun Gothic"/>
              </a:rPr>
              <a:t>merchant 정보는 집계 후 조인해도 충분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960120" y="4160520"/>
            <a:ext cx="1028700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 lIns="91440" tIns="68580" rIns="91440" bIns="68580"/>
          <a:lstStyle/>
          <a:p>
            <a:r>
              <a:rPr lang="ko-KR" sz="1300" b="0">
                <a:solidFill>
                  <a:srgbClr val="0F172A"/>
                </a:solidFill>
                <a:latin typeface="Aptos"/>
                <a:ea typeface="Malgun Gothic"/>
              </a:rPr>
              <a:t>항목                    개선 전       개선 후</a:t>
            </a:r>
          </a:p>
          <a:p>
            <a:r>
              <a:rPr lang="ko-KR" sz="1300" b="0">
                <a:solidFill>
                  <a:srgbClr val="0F172A"/>
                </a:solidFill>
                <a:latin typeface="Aptos"/>
                <a:ea typeface="Malgun Gothic"/>
              </a:rPr>
              <a:t>EXPLAIN                 3,855ms       3,274ms</a:t>
            </a:r>
          </a:p>
          <a:p>
            <a:r>
              <a:rPr lang="ko-KR" sz="1300" b="0">
                <a:solidFill>
                  <a:srgbClr val="0F172A"/>
                </a:solidFill>
                <a:latin typeface="Aptos"/>
                <a:ea typeface="Malgun Gothic"/>
              </a:rPr>
              <a:t>GROUP_BY_QUERY          5,026ms       4,796ms</a:t>
            </a:r>
          </a:p>
          <a:p>
            <a:r>
              <a:rPr lang="ko-KR" sz="1300" b="0">
                <a:solidFill>
                  <a:srgbClr val="0F172A"/>
                </a:solidFill>
                <a:latin typeface="Aptos"/>
                <a:ea typeface="Malgun Gothic"/>
              </a:rPr>
              <a:t>GROUP_BY_BULK_SAVE      4,596ms       4,149ms</a:t>
            </a:r>
          </a:p>
          <a:p>
            <a:r>
              <a:rPr lang="ko-KR" sz="1300" b="0">
                <a:solidFill>
                  <a:srgbClr val="0F172A"/>
                </a:solidFill>
                <a:latin typeface="Aptos"/>
                <a:ea typeface="Malgun Gothic"/>
              </a:rPr>
              <a:t>temp written            92,954        47,200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8580" rIns="91440" bIns="68580"/>
          <a:lstStyle/>
          <a:p>
            <a:r>
              <a:rPr lang="ko-KR" sz="900" b="0">
                <a:solidFill>
                  <a:srgbClr val="64748B"/>
                </a:solidFill>
                <a:latin typeface="Aptos"/>
                <a:ea typeface="Malgun Gothic"/>
              </a:rPr>
              <a:t>쿼리 구조 개선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11109960" y="64465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68580" rIns="91440" bIns="68580"/>
          <a:lstStyle/>
          <a:p>
            <a:r>
              <a:rPr lang="ko-KR" sz="900" b="0">
                <a:solidFill>
                  <a:srgbClr val="64748B"/>
                </a:solidFill>
                <a:latin typeface="Aptos"/>
                <a:ea typeface="Malgun Gothi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" lIns="91440" tIns="68580" rIns="91440" bIns="68580"/>
          <a:lstStyle/>
          <a:p>
            <a:r>
              <a:rPr lang="ko-KR" sz="1800" b="0">
                <a:solidFill>
                  <a:srgbClr val="0F172A"/>
                </a:solidFill>
                <a:latin typeface="Aptos"/>
                <a:ea typeface="Malgun Gothic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 wrap="square" anchor="t" lIns="91440" tIns="68580" rIns="91440" bIns="68580"/>
          <a:lstStyle/>
          <a:p>
            <a:r>
              <a:rPr lang="ko-KR" sz="1800" b="0">
                <a:solidFill>
                  <a:srgbClr val="0F172A"/>
                </a:solidFill>
                <a:latin typeface="Aptos"/>
                <a:ea typeface="Malgun Gothic"/>
              </a:rPr>
              <a:t/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292608"/>
            <a:ext cx="7955279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8580" rIns="91440" bIns="68580"/>
          <a:lstStyle/>
          <a:p>
            <a:r>
              <a:rPr lang="ko-KR" sz="2500" b="1">
                <a:solidFill>
                  <a:srgbClr val="0F172A"/>
                </a:solidFill>
                <a:latin typeface="Aptos"/>
                <a:ea typeface="Malgun Gothic"/>
              </a:rPr>
              <a:t>트러블슈팅 1: work_mem과 temp spill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530352" y="786384"/>
            <a:ext cx="8778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8580" rIns="91440" bIns="68580"/>
          <a:lstStyle/>
          <a:p>
            <a:r>
              <a:rPr lang="ko-KR" sz="1200" b="1">
                <a:solidFill>
                  <a:srgbClr val="2563EB"/>
                </a:solidFill>
                <a:latin typeface="Aptos"/>
                <a:ea typeface="Malgun Gothic"/>
              </a:rPr>
              <a:t>병목을 감으로 판단하지 않고 EXPLAIN과 temp 지표로 확인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685800" y="1234440"/>
            <a:ext cx="10881360" cy="41148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FDE68A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600" b="1">
                <a:solidFill>
                  <a:srgbClr val="0F172A"/>
                </a:solidFill>
                <a:latin typeface="Aptos"/>
                <a:ea typeface="Malgun Gothic"/>
              </a:rPr>
              <a:t>HashAggregate temp spill: 기본 4MB에서는 batches=5, temp read/write 발생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731520" y="1874519"/>
            <a:ext cx="1074420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 lIns="91440" tIns="68580" rIns="91440" bIns="68580"/>
          <a:lstStyle/>
          <a:p>
            <a:r>
              <a:rPr lang="ko-KR" sz="1400" b="0">
                <a:solidFill>
                  <a:srgbClr val="0F172A"/>
                </a:solidFill>
                <a:latin typeface="Aptos"/>
                <a:ea typeface="Malgun Gothic"/>
              </a:rPr>
              <a:t>work_mem     Execution Time     Batches     temp read     temp written</a:t>
            </a:r>
          </a:p>
          <a:p>
            <a:r>
              <a:rPr lang="ko-KR" sz="1400" b="0">
                <a:solidFill>
                  <a:srgbClr val="0F172A"/>
                </a:solidFill>
                <a:latin typeface="Aptos"/>
                <a:ea typeface="Malgun Gothic"/>
              </a:rPr>
              <a:t>4MB          4,295.640ms        5           26,516        46,759</a:t>
            </a:r>
          </a:p>
          <a:p>
            <a:r>
              <a:rPr lang="ko-KR" sz="1400" b="0">
                <a:solidFill>
                  <a:srgbClr val="0F172A"/>
                </a:solidFill>
                <a:latin typeface="Aptos"/>
                <a:ea typeface="Malgun Gothic"/>
              </a:rPr>
              <a:t>64MB         2,874.350ms        1           0             0</a:t>
            </a:r>
          </a:p>
          <a:p>
            <a:r>
              <a:rPr lang="ko-KR" sz="1400" b="0">
                <a:solidFill>
                  <a:srgbClr val="0F172A"/>
                </a:solidFill>
                <a:latin typeface="Aptos"/>
                <a:ea typeface="Malgun Gothic"/>
              </a:rPr>
              <a:t>128MB        2,645.038ms        1           0             0</a:t>
            </a:r>
          </a:p>
          <a:p>
            <a:r>
              <a:rPr lang="ko-KR" sz="1400" b="0">
                <a:solidFill>
                  <a:srgbClr val="0F172A"/>
                </a:solidFill>
                <a:latin typeface="Aptos"/>
                <a:ea typeface="Malgun Gothic"/>
              </a:rPr>
              <a:t>256MB        2,645.408ms        1           0             0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914400" y="4343400"/>
            <a:ext cx="5120640" cy="109728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txBody>
          <a:bodyPr wrap="square" anchor="t" lIns="91440" tIns="68580" rIns="91440" bIns="68580"/>
          <a:lstStyle/>
          <a:p>
            <a:pPr marL="285750" indent="-171450">
              <a:buChar char="•"/>
            </a:pPr>
            <a:r>
              <a:rPr lang="ko-KR" sz="1500">
                <a:solidFill>
                  <a:srgbClr val="0F172A"/>
                </a:solidFill>
                <a:latin typeface="Aptos"/>
                <a:ea typeface="Malgun Gothic"/>
              </a:rPr>
              <a:t>64MB부터 temp spill 제거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0F172A"/>
                </a:solidFill>
                <a:latin typeface="Aptos"/>
                <a:ea typeface="Malgun Gothic"/>
              </a:rPr>
              <a:t>128MB와 256MB는 실행 시간 차이가 거의 없음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6355080" y="4343400"/>
            <a:ext cx="4754880" cy="109728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txBody>
          <a:bodyPr wrap="square" anchor="t" lIns="91440" tIns="68580" rIns="91440" bIns="68580"/>
          <a:lstStyle/>
          <a:p>
            <a:pPr marL="285750" indent="-171450">
              <a:buChar char="•"/>
            </a:pPr>
            <a:r>
              <a:rPr lang="ko-KR" sz="1500">
                <a:solidFill>
                  <a:srgbClr val="0F172A"/>
                </a:solidFill>
                <a:latin typeface="Aptos"/>
                <a:ea typeface="Malgun Gothic"/>
              </a:rPr>
              <a:t>전역 변경은 동시성 메모리 위험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0F172A"/>
                </a:solidFill>
                <a:latin typeface="Aptos"/>
                <a:ea typeface="Malgun Gothic"/>
              </a:rPr>
              <a:t>세션 단위 실험으로 판단 근거 확보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8580" rIns="91440" bIns="68580"/>
          <a:lstStyle/>
          <a:p>
            <a:r>
              <a:rPr lang="ko-KR" sz="900" b="0">
                <a:solidFill>
                  <a:srgbClr val="64748B"/>
                </a:solidFill>
                <a:latin typeface="Aptos"/>
                <a:ea typeface="Malgun Gothic"/>
              </a:rPr>
              <a:t>메모리 병목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11109960" y="64465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68580" rIns="91440" bIns="68580"/>
          <a:lstStyle/>
          <a:p>
            <a:r>
              <a:rPr lang="ko-KR" sz="900" b="0">
                <a:solidFill>
                  <a:srgbClr val="64748B"/>
                </a:solidFill>
                <a:latin typeface="Aptos"/>
                <a:ea typeface="Malgun Gothi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" lIns="91440" tIns="68580" rIns="91440" bIns="68580"/>
          <a:lstStyle/>
          <a:p>
            <a:r>
              <a:rPr lang="ko-KR" sz="1800" b="0">
                <a:solidFill>
                  <a:srgbClr val="0F172A"/>
                </a:solidFill>
                <a:latin typeface="Aptos"/>
                <a:ea typeface="Malgun Gothic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 wrap="square" anchor="t" lIns="91440" tIns="68580" rIns="91440" bIns="68580"/>
          <a:lstStyle/>
          <a:p>
            <a:r>
              <a:rPr lang="ko-KR" sz="1800" b="0">
                <a:solidFill>
                  <a:srgbClr val="0F172A"/>
                </a:solidFill>
                <a:latin typeface="Aptos"/>
                <a:ea typeface="Malgun Gothic"/>
              </a:rPr>
              <a:t/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292608"/>
            <a:ext cx="7955279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8580" rIns="91440" bIns="68580"/>
          <a:lstStyle/>
          <a:p>
            <a:r>
              <a:rPr lang="ko-KR" sz="2500" b="1">
                <a:solidFill>
                  <a:srgbClr val="0F172A"/>
                </a:solidFill>
                <a:latin typeface="Aptos"/>
                <a:ea typeface="Malgun Gothic"/>
              </a:rPr>
              <a:t>트러블슈팅 2: JPQL count(p)와 Index Only Scan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530352" y="786384"/>
            <a:ext cx="8778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8580" rIns="91440" bIns="68580"/>
          <a:lstStyle/>
          <a:p>
            <a:r>
              <a:rPr lang="ko-KR" sz="1200" b="1">
                <a:solidFill>
                  <a:srgbClr val="2563EB"/>
                </a:solidFill>
                <a:latin typeface="Aptos"/>
                <a:ea typeface="Malgun Gothic"/>
              </a:rPr>
              <a:t>Repository 코드가 아니라 실제 API SQL과 실행계획을 기준으로 판단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731520" y="1325880"/>
            <a:ext cx="5074920" cy="1143000"/>
          </a:xfrm>
          <a:prstGeom prst="roundRect">
            <a:avLst/>
          </a:prstGeom>
          <a:solidFill>
            <a:srgbClr val="FEE2E2"/>
          </a:solidFill>
          <a:ln w="9525">
            <a:solidFill>
              <a:srgbClr val="FCA5A5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600" b="1">
                <a:solidFill>
                  <a:srgbClr val="0F172A"/>
                </a:solidFill>
                <a:latin typeface="Aptos"/>
                <a:ea typeface="Malgun Gothic"/>
              </a:rPr>
              <a:t>Before</a:t>
            </a:r>
          </a:p>
          <a:p>
            <a:r>
              <a:rPr lang="ko-KR" sz="1600" b="1">
                <a:solidFill>
                  <a:srgbClr val="0F172A"/>
                </a:solidFill>
                <a:latin typeface="Aptos"/>
                <a:ea typeface="Malgun Gothic"/>
              </a:rPr>
              <a:t>JPQL count(p) → SQL count(p.id)</a:t>
            </a:r>
          </a:p>
          <a:p>
            <a:r>
              <a:rPr lang="ko-KR" sz="1600" b="1">
                <a:solidFill>
                  <a:srgbClr val="0F172A"/>
                </a:solidFill>
                <a:latin typeface="Aptos"/>
                <a:ea typeface="Malgun Gothic"/>
              </a:rPr>
              <a:t>covering index에 id 없음 → heap 접근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6355080" y="1325880"/>
            <a:ext cx="5074920" cy="11430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86EFAC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600" b="1">
                <a:solidFill>
                  <a:srgbClr val="0F172A"/>
                </a:solidFill>
                <a:latin typeface="Aptos"/>
                <a:ea typeface="Malgun Gothic"/>
              </a:rPr>
              <a:t>After</a:t>
            </a:r>
          </a:p>
          <a:p>
            <a:r>
              <a:rPr lang="ko-KR" sz="1600" b="1">
                <a:solidFill>
                  <a:srgbClr val="0F172A"/>
                </a:solidFill>
                <a:latin typeface="Aptos"/>
                <a:ea typeface="Malgun Gothic"/>
              </a:rPr>
              <a:t>native count(*) + interface projection</a:t>
            </a:r>
          </a:p>
          <a:p>
            <a:r>
              <a:rPr lang="ko-KR" sz="1600" b="1">
                <a:solidFill>
                  <a:srgbClr val="0F172A"/>
                </a:solidFill>
                <a:latin typeface="Aptos"/>
                <a:ea typeface="Malgun Gothic"/>
              </a:rPr>
              <a:t>Index Only Scan, Heap Fetches=0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68680" y="2971800"/>
            <a:ext cx="484632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91440" tIns="68580" rIns="91440" bIns="68580"/>
          <a:lstStyle/>
          <a:p>
            <a:pPr marL="285750" indent="-171450">
              <a:buChar char="•"/>
            </a:pPr>
            <a:r>
              <a:rPr lang="ko-KR" sz="1500">
                <a:solidFill>
                  <a:srgbClr val="0F172A"/>
                </a:solidFill>
                <a:latin typeface="Aptos"/>
                <a:ea typeface="Malgun Gothic"/>
              </a:rPr>
              <a:t>수동 SQL은 count(*)라 Index Only Scan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0F172A"/>
                </a:solidFill>
                <a:latin typeface="Aptos"/>
                <a:ea typeface="Malgun Gothic"/>
              </a:rPr>
              <a:t>API SQL은 count(p.id)로 heap 접근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0F172A"/>
                </a:solidFill>
                <a:latin typeface="Aptos"/>
                <a:ea typeface="Malgun Gothic"/>
              </a:rPr>
              <a:t>수동 SQL과 API SQL 실행계획이 달랐음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6492240" y="2971800"/>
            <a:ext cx="470916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91440" tIns="68580" rIns="91440" bIns="68580"/>
          <a:lstStyle/>
          <a:p>
            <a:pPr marL="285750" indent="-171450">
              <a:buChar char="•"/>
            </a:pPr>
            <a:r>
              <a:rPr lang="ko-KR" sz="1500">
                <a:solidFill>
                  <a:srgbClr val="0F172A"/>
                </a:solidFill>
                <a:latin typeface="Aptos"/>
                <a:ea typeface="Malgun Gothic"/>
              </a:rPr>
              <a:t>집계 쿼리를 native query로 분리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0F172A"/>
                </a:solidFill>
                <a:latin typeface="Aptos"/>
                <a:ea typeface="Malgun Gothic"/>
              </a:rPr>
              <a:t>count(*) 명시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0F172A"/>
                </a:solidFill>
                <a:latin typeface="Aptos"/>
                <a:ea typeface="Malgun Gothic"/>
              </a:rPr>
              <a:t>API 경로에서도 Index Only Scan 확인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1828800" y="4892040"/>
            <a:ext cx="8595360" cy="50292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7DD3FC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700" b="1">
                <a:solidFill>
                  <a:srgbClr val="0F172A"/>
                </a:solidFill>
                <a:latin typeface="Aptos"/>
                <a:ea typeface="Malgun Gothic"/>
              </a:rPr>
              <a:t>EXPLAIN 2,242.501ms → 74.988ms / DB 집계조회 수백 ms대로 개선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8580" rIns="91440" bIns="68580"/>
          <a:lstStyle/>
          <a:p>
            <a:r>
              <a:rPr lang="ko-KR" sz="900" b="0">
                <a:solidFill>
                  <a:srgbClr val="64748B"/>
                </a:solidFill>
                <a:latin typeface="Aptos"/>
                <a:ea typeface="Malgun Gothic"/>
              </a:rPr>
              <a:t>SQL 불일치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11109960" y="64465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68580" rIns="91440" bIns="68580"/>
          <a:lstStyle/>
          <a:p>
            <a:r>
              <a:rPr lang="ko-KR" sz="900" b="0">
                <a:solidFill>
                  <a:srgbClr val="64748B"/>
                </a:solidFill>
                <a:latin typeface="Aptos"/>
                <a:ea typeface="Malgun Gothi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" lIns="91440" tIns="68580" rIns="91440" bIns="68580"/>
          <a:lstStyle/>
          <a:p>
            <a:r>
              <a:rPr lang="ko-KR" sz="1800" b="0">
                <a:solidFill>
                  <a:srgbClr val="0F172A"/>
                </a:solidFill>
                <a:latin typeface="Aptos"/>
                <a:ea typeface="Malgun Gothic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 wrap="square" anchor="t" lIns="91440" tIns="68580" rIns="91440" bIns="68580"/>
          <a:lstStyle/>
          <a:p>
            <a:r>
              <a:rPr lang="ko-KR" sz="1800" b="0">
                <a:solidFill>
                  <a:srgbClr val="0F172A"/>
                </a:solidFill>
                <a:latin typeface="Aptos"/>
                <a:ea typeface="Malgun Gothic"/>
              </a:rPr>
              <a:t/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292608"/>
            <a:ext cx="7955279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8580" rIns="91440" bIns="68580"/>
          <a:lstStyle/>
          <a:p>
            <a:r>
              <a:rPr lang="ko-KR" sz="2500" b="1">
                <a:solidFill>
                  <a:srgbClr val="0F172A"/>
                </a:solidFill>
                <a:latin typeface="Aptos"/>
                <a:ea typeface="Malgun Gothic"/>
              </a:rPr>
              <a:t>트러블슈팅 3: saveAll과 IDENTITY 한계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530352" y="786384"/>
            <a:ext cx="8778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8580" rIns="91440" bIns="68580"/>
          <a:lstStyle/>
          <a:p>
            <a:r>
              <a:rPr lang="ko-KR" sz="1200" b="1">
                <a:solidFill>
                  <a:srgbClr val="2563EB"/>
                </a:solidFill>
                <a:latin typeface="Aptos"/>
                <a:ea typeface="Malgun Gothic"/>
              </a:rPr>
              <a:t>saveAll이라는 메서드명보다 SQL 로그와 ID 생성 전략을 확인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685800" y="1234440"/>
            <a:ext cx="5212080" cy="1143000"/>
          </a:xfrm>
          <a:prstGeom prst="roundRect">
            <a:avLst/>
          </a:prstGeom>
          <a:solidFill>
            <a:srgbClr val="FEE2E2"/>
          </a:solidFill>
          <a:ln w="9525">
            <a:solidFill>
              <a:srgbClr val="FCA5A5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700" b="1">
                <a:solidFill>
                  <a:srgbClr val="0F172A"/>
                </a:solidFill>
                <a:latin typeface="Aptos"/>
                <a:ea typeface="Malgun Gothic"/>
              </a:rPr>
              <a:t>IDENTITY</a:t>
            </a:r>
          </a:p>
          <a:p>
            <a:r>
              <a:rPr lang="ko-KR" sz="1700" b="1">
                <a:solidFill>
                  <a:srgbClr val="0F172A"/>
                </a:solidFill>
                <a:latin typeface="Aptos"/>
                <a:ea typeface="Malgun Gothic"/>
              </a:rPr>
              <a:t>insert 후 DB generated id 조회</a:t>
            </a:r>
          </a:p>
          <a:p>
            <a:r>
              <a:rPr lang="ko-KR" sz="1700" b="1">
                <a:solidFill>
                  <a:srgbClr val="0F172A"/>
                </a:solidFill>
                <a:latin typeface="Aptos"/>
                <a:ea typeface="Malgun Gothic"/>
              </a:rPr>
              <a:t>batch insert에 불리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6263640" y="1234440"/>
            <a:ext cx="5212080" cy="11430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86EFAC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700" b="1">
                <a:solidFill>
                  <a:srgbClr val="0F172A"/>
                </a:solidFill>
                <a:latin typeface="Aptos"/>
                <a:ea typeface="Malgun Gothic"/>
              </a:rPr>
              <a:t>SEQUENCE</a:t>
            </a:r>
          </a:p>
          <a:p>
            <a:r>
              <a:rPr lang="ko-KR" sz="1700" b="1">
                <a:solidFill>
                  <a:srgbClr val="0F172A"/>
                </a:solidFill>
                <a:latin typeface="Aptos"/>
                <a:ea typeface="Malgun Gothic"/>
              </a:rPr>
              <a:t>insert 전 sequence로 id 확보</a:t>
            </a:r>
          </a:p>
          <a:p>
            <a:r>
              <a:rPr lang="ko-KR" sz="1700" b="1">
                <a:solidFill>
                  <a:srgbClr val="0F172A"/>
                </a:solidFill>
                <a:latin typeface="Aptos"/>
                <a:ea typeface="Malgun Gothic"/>
              </a:rPr>
              <a:t>batch 처리에 유리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777240" y="2743200"/>
            <a:ext cx="1065276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t" lIns="91440" tIns="68580" rIns="91440" bIns="68580"/>
          <a:lstStyle/>
          <a:p>
            <a:r>
              <a:rPr lang="ko-KR" sz="1300" b="0">
                <a:solidFill>
                  <a:srgbClr val="0F172A"/>
                </a:solidFill>
                <a:latin typeface="Aptos"/>
                <a:ea typeface="Malgun Gothic"/>
              </a:rPr>
              <a:t>전략                    ID 전략       저장 평균       API 전체 평균</a:t>
            </a:r>
          </a:p>
          <a:p>
            <a:r>
              <a:rPr lang="ko-KR" sz="1300" b="0">
                <a:solidFill>
                  <a:srgbClr val="0F172A"/>
                </a:solidFill>
                <a:latin typeface="Aptos"/>
                <a:ea typeface="Malgun Gothic"/>
              </a:rPr>
              <a:t>GROUP_BY_QUERY          IDENTITY      1,105.225ms     1,490.271ms</a:t>
            </a:r>
          </a:p>
          <a:p>
            <a:r>
              <a:rPr lang="ko-KR" sz="1300" b="0">
                <a:solidFill>
                  <a:srgbClr val="0F172A"/>
                </a:solidFill>
                <a:latin typeface="Aptos"/>
                <a:ea typeface="Malgun Gothic"/>
              </a:rPr>
              <a:t>GROUP_BY_BULK_SAVE      IDENTITY      975.471ms       1,289.364ms</a:t>
            </a:r>
          </a:p>
          <a:p>
            <a:r>
              <a:rPr lang="ko-KR" sz="1300" b="0">
                <a:solidFill>
                  <a:srgbClr val="0F172A"/>
                </a:solidFill>
                <a:latin typeface="Aptos"/>
                <a:ea typeface="Malgun Gothic"/>
              </a:rPr>
              <a:t>GROUP_BY_QUERY          SEQUENCE      101.945ms       755.662ms</a:t>
            </a:r>
          </a:p>
          <a:p>
            <a:r>
              <a:rPr lang="ko-KR" sz="1300" b="0">
                <a:solidFill>
                  <a:srgbClr val="0F172A"/>
                </a:solidFill>
                <a:latin typeface="Aptos"/>
                <a:ea typeface="Malgun Gothic"/>
              </a:rPr>
              <a:t>GROUP_BY_BULK_SAVE      SEQUENCE      40.449ms        696.352ms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914400" y="5166360"/>
            <a:ext cx="10241280" cy="41148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7DD3FC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500" b="1">
                <a:solidFill>
                  <a:srgbClr val="0F172A"/>
                </a:solidFill>
                <a:latin typeface="Aptos"/>
                <a:ea typeface="Malgun Gothic"/>
              </a:rPr>
              <a:t>SQL 로그: saveAll 이후에도 개별 insert 반복 → Hibernate batch 설정과 ID 전략을 분리 실험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8580" rIns="91440" bIns="68580"/>
          <a:lstStyle/>
          <a:p>
            <a:r>
              <a:rPr lang="ko-KR" sz="900" b="0">
                <a:solidFill>
                  <a:srgbClr val="64748B"/>
                </a:solidFill>
                <a:latin typeface="Aptos"/>
                <a:ea typeface="Malgun Gothic"/>
              </a:rPr>
              <a:t>저장 병목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11109960" y="64465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68580" rIns="91440" bIns="68580"/>
          <a:lstStyle/>
          <a:p>
            <a:r>
              <a:rPr lang="ko-KR" sz="900" b="0">
                <a:solidFill>
                  <a:srgbClr val="64748B"/>
                </a:solidFill>
                <a:latin typeface="Aptos"/>
                <a:ea typeface="Malgun Gothi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" lIns="91440" tIns="68580" rIns="91440" bIns="68580"/>
          <a:lstStyle/>
          <a:p>
            <a:r>
              <a:rPr lang="ko-KR" sz="1800" b="0">
                <a:solidFill>
                  <a:srgbClr val="0F172A"/>
                </a:solidFill>
                <a:latin typeface="Aptos"/>
                <a:ea typeface="Malgun Gothic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 wrap="square" anchor="t" lIns="91440" tIns="68580" rIns="91440" bIns="68580"/>
          <a:lstStyle/>
          <a:p>
            <a:r>
              <a:rPr lang="ko-KR" sz="1800" b="0">
                <a:solidFill>
                  <a:srgbClr val="0F172A"/>
                </a:solidFill>
                <a:latin typeface="Aptos"/>
                <a:ea typeface="Malgun Gothic"/>
              </a:rPr>
              <a:t/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292608"/>
            <a:ext cx="7955279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8580" rIns="91440" bIns="68580"/>
          <a:lstStyle/>
          <a:p>
            <a:r>
              <a:rPr lang="ko-KR" sz="2500" b="1">
                <a:solidFill>
                  <a:srgbClr val="0F172A"/>
                </a:solidFill>
                <a:latin typeface="Aptos"/>
                <a:ea typeface="Malgun Gothic"/>
              </a:rPr>
              <a:t>최종 성능 결과와 배운 점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530352" y="786384"/>
            <a:ext cx="8778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8580" rIns="91440" bIns="68580"/>
          <a:lstStyle/>
          <a:p>
            <a:r>
              <a:rPr lang="ko-KR" sz="1200" b="1">
                <a:solidFill>
                  <a:srgbClr val="2563EB"/>
                </a:solidFill>
                <a:latin typeface="Aptos"/>
                <a:ea typeface="Malgun Gothic"/>
              </a:rPr>
              <a:t>성능 개선 후에도 처리 건수, Settlement 건수, 총액 동일성을 확인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94360" y="1143000"/>
            <a:ext cx="356616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500" b="1">
                <a:solidFill>
                  <a:srgbClr val="0F172A"/>
                </a:solidFill>
                <a:latin typeface="Aptos"/>
                <a:ea typeface="Malgun Gothic"/>
              </a:rPr>
              <a:t>100만 건</a:t>
            </a:r>
          </a:p>
          <a:p>
            <a:r>
              <a:rPr lang="ko-KR" sz="1500" b="1">
                <a:solidFill>
                  <a:srgbClr val="0F172A"/>
                </a:solidFill>
                <a:latin typeface="Aptos"/>
                <a:ea typeface="Malgun Gothic"/>
              </a:rPr>
              <a:t>BASIC_LOOP 8,253ms</a:t>
            </a:r>
          </a:p>
          <a:p>
            <a:r>
              <a:rPr lang="ko-KR" sz="1500" b="1">
                <a:solidFill>
                  <a:srgbClr val="0F172A"/>
                </a:solidFill>
                <a:latin typeface="Aptos"/>
                <a:ea typeface="Malgun Gothic"/>
              </a:rPr>
              <a:t>GROUP_BY_QUERY 899ms</a:t>
            </a:r>
          </a:p>
          <a:p>
            <a:r>
              <a:rPr lang="ko-KR" sz="1500" b="1">
                <a:solidFill>
                  <a:srgbClr val="0F172A"/>
                </a:solidFill>
                <a:latin typeface="Aptos"/>
                <a:ea typeface="Malgun Gothic"/>
              </a:rPr>
              <a:t>GROUP_BY_BULK_SAVE 798ms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4343400" y="1143000"/>
            <a:ext cx="356616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300" b="1">
                <a:solidFill>
                  <a:srgbClr val="0F172A"/>
                </a:solidFill>
                <a:latin typeface="Aptos"/>
                <a:ea typeface="Malgun Gothic"/>
              </a:rPr>
              <a:t>날짜 분산 1000만 건</a:t>
            </a:r>
          </a:p>
          <a:p>
            <a:r>
              <a:rPr lang="ko-KR" sz="1300" b="1">
                <a:solidFill>
                  <a:srgbClr val="0F172A"/>
                </a:solidFill>
                <a:latin typeface="Aptos"/>
                <a:ea typeface="Malgun Gothic"/>
              </a:rPr>
              <a:t>EXPLAIN 2,242.501ms → 74.988ms</a:t>
            </a:r>
          </a:p>
          <a:p>
            <a:r>
              <a:rPr lang="ko-KR" sz="1300" b="1">
                <a:solidFill>
                  <a:srgbClr val="0F172A"/>
                </a:solidFill>
                <a:latin typeface="Aptos"/>
                <a:ea typeface="Malgun Gothic"/>
              </a:rPr>
              <a:t>API GQ 3,021.333ms → 1,627.667ms</a:t>
            </a:r>
          </a:p>
          <a:p>
            <a:r>
              <a:rPr lang="ko-KR" sz="1300" b="1">
                <a:solidFill>
                  <a:srgbClr val="0F172A"/>
                </a:solidFill>
                <a:latin typeface="Aptos"/>
                <a:ea typeface="Malgun Gothic"/>
              </a:rPr>
              <a:t>API GBS 2,478.333ms → 2,058.000ms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092440" y="1143000"/>
            <a:ext cx="356616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  <p:txBody>
          <a:bodyPr wrap="square" anchor="ctr" lIns="91440" tIns="68580" rIns="91440" bIns="68580"/>
          <a:lstStyle/>
          <a:p>
            <a:r>
              <a:rPr lang="ko-KR" sz="1500" b="1">
                <a:solidFill>
                  <a:srgbClr val="0F172A"/>
                </a:solidFill>
                <a:latin typeface="Aptos"/>
                <a:ea typeface="Malgun Gothic"/>
              </a:rPr>
              <a:t>SEQUENCE 변경 후</a:t>
            </a:r>
          </a:p>
          <a:p>
            <a:r>
              <a:rPr lang="ko-KR" sz="1500" b="1">
                <a:solidFill>
                  <a:srgbClr val="0F172A"/>
                </a:solidFill>
                <a:latin typeface="Aptos"/>
                <a:ea typeface="Malgun Gothic"/>
              </a:rPr>
              <a:t>GROUP_BY_QUERY 755.662ms</a:t>
            </a:r>
          </a:p>
          <a:p>
            <a:r>
              <a:rPr lang="ko-KR" sz="1500" b="1">
                <a:solidFill>
                  <a:srgbClr val="0F172A"/>
                </a:solidFill>
                <a:latin typeface="Aptos"/>
                <a:ea typeface="Malgun Gothic"/>
              </a:rPr>
              <a:t>GROUP_BY_BULK_SAVE 696.352ms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777240" y="3108960"/>
            <a:ext cx="5212080" cy="169164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txBody>
          <a:bodyPr wrap="square" anchor="t" lIns="91440" tIns="68580" rIns="91440" bIns="68580"/>
          <a:lstStyle/>
          <a:p>
            <a:pPr marL="285750" indent="-171450">
              <a:buChar char="•"/>
            </a:pPr>
            <a:r>
              <a:rPr lang="ko-KR" sz="1500">
                <a:solidFill>
                  <a:srgbClr val="0F172A"/>
                </a:solidFill>
                <a:latin typeface="Aptos"/>
                <a:ea typeface="Malgun Gothic"/>
              </a:rPr>
              <a:t>EXPLAIN, SQL 로그, 구간별 측정으로 판단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0F172A"/>
                </a:solidFill>
                <a:latin typeface="Aptos"/>
                <a:ea typeface="Malgun Gothic"/>
              </a:rPr>
              <a:t>processedCount=322,581 확인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0F172A"/>
                </a:solidFill>
                <a:latin typeface="Aptos"/>
                <a:ea typeface="Malgun Gothic"/>
              </a:rPr>
              <a:t>Settlement 10,000건 확인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6263640" y="3108960"/>
            <a:ext cx="5074920" cy="169164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txBody>
          <a:bodyPr wrap="square" anchor="t" lIns="91440" tIns="68580" rIns="91440" bIns="68580"/>
          <a:lstStyle/>
          <a:p>
            <a:pPr marL="285750" indent="-171450">
              <a:buChar char="•"/>
            </a:pPr>
            <a:r>
              <a:rPr lang="ko-KR" sz="1500">
                <a:solidFill>
                  <a:srgbClr val="0F172A"/>
                </a:solidFill>
                <a:latin typeface="Aptos"/>
                <a:ea typeface="Malgun Gothic"/>
              </a:rPr>
              <a:t>결제금액/취소금액/수수료/최종 정산금액 동일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0F172A"/>
                </a:solidFill>
                <a:latin typeface="Aptos"/>
                <a:ea typeface="Malgun Gothic"/>
              </a:rPr>
              <a:t>중복 실행 차단과 실패 이력 보존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0F172A"/>
                </a:solidFill>
                <a:latin typeface="Aptos"/>
                <a:ea typeface="Malgun Gothic"/>
              </a:rPr>
              <a:t>성능과 정합성을 함께 검증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8580" rIns="91440" bIns="68580"/>
          <a:lstStyle/>
          <a:p>
            <a:r>
              <a:rPr lang="ko-KR" sz="900" b="0">
                <a:solidFill>
                  <a:srgbClr val="64748B"/>
                </a:solidFill>
                <a:latin typeface="Aptos"/>
                <a:ea typeface="Malgun Gothic"/>
              </a:rPr>
              <a:t>결과 요약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11109960" y="64465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68580" rIns="91440" bIns="68580"/>
          <a:lstStyle/>
          <a:p>
            <a:r>
              <a:rPr lang="ko-KR" sz="900" b="0">
                <a:solidFill>
                  <a:srgbClr val="64748B"/>
                </a:solidFill>
                <a:latin typeface="Aptos"/>
                <a:ea typeface="Malgun Gothic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ttlement Portfolio">
  <a:themeElements>
    <a:clrScheme name="Office">
      <a:dk1>
        <a:srgbClr val="0F172A"/>
      </a:dk1>
      <a:lt1>
        <a:srgbClr val="FFFFFF"/>
      </a:lt1>
      <a:dk2>
        <a:srgbClr val="1E293B"/>
      </a:dk2>
      <a:lt2>
        <a:srgbClr val="F8FAFC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64748B"/>
      </a:accent5>
      <a:accent6>
        <a:srgbClr val="EF4444"/>
      </a:accent6>
      <a:hlink>
        <a:srgbClr val="2563EB"/>
      </a:hlink>
      <a:folHlink>
        <a:srgbClr val="1D4ED8"/>
      </a:folHlink>
    </a:clrScheme>
    <a:fontScheme name="Aptos">
      <a:majorFont>
        <a:latin typeface="Aptos"/>
        <a:ea typeface="Malgun Gothic"/>
      </a:majorFont>
      <a:minorFont>
        <a:latin typeface="Aptos"/>
        <a:ea typeface="Malgun Gothic"/>
      </a:minorFont>
    </a:fontScheme>
    <a:fmtScheme name="Default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Codex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정산 배치 성능 개선 프로젝트</dc:title>
  <dc:creator>Codex</dc:creator>
</cp:coreProperties>
</file>